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Regional Airline — Fuel Shock &amp; UDAN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Diagnosis, UDAN scenario &amp; recommendation (IIT Guwahati Winter Consulting)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— ATF time series (India)</a:t>
            </a:r>
          </a:p>
        </p:txBody>
      </p:sp>
      <p:pic>
        <p:nvPicPr>
          <p:cNvPr id="3" name="Picture 2" descr="atf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— Margin impact: base vs post-shock vs UDAN</a:t>
            </a:r>
          </a:p>
        </p:txBody>
      </p:sp>
      <p:pic>
        <p:nvPicPr>
          <p:cNvPr id="3" name="Picture 2" descr="margins_uda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602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— Vulnerable routes (post-shock)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53967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dirty="0"/>
              <a:t>IXZ-DEL | </a:t>
            </a:r>
            <a:r>
              <a:rPr dirty="0" err="1"/>
              <a:t>dist</a:t>
            </a:r>
            <a:r>
              <a:rPr dirty="0"/>
              <a:t> 2485.0 km | </a:t>
            </a:r>
            <a:r>
              <a:rPr dirty="0" err="1"/>
              <a:t>post_shock</a:t>
            </a:r>
            <a:r>
              <a:rPr dirty="0"/>
              <a:t> margin -360179 INR</a:t>
            </a:r>
          </a:p>
          <a:p>
            <a:r>
              <a:rPr dirty="0"/>
              <a:t>BOM-GAU | </a:t>
            </a:r>
            <a:r>
              <a:rPr dirty="0" err="1"/>
              <a:t>dist</a:t>
            </a:r>
            <a:r>
              <a:rPr dirty="0"/>
              <a:t> 2071.1 km | </a:t>
            </a:r>
            <a:r>
              <a:rPr dirty="0" err="1"/>
              <a:t>post_shock</a:t>
            </a:r>
            <a:r>
              <a:rPr dirty="0"/>
              <a:t> margin -310115 INR</a:t>
            </a:r>
          </a:p>
          <a:p>
            <a:r>
              <a:rPr dirty="0"/>
              <a:t>GAU-BOM | </a:t>
            </a:r>
            <a:r>
              <a:rPr dirty="0" err="1"/>
              <a:t>dist</a:t>
            </a:r>
            <a:r>
              <a:rPr dirty="0"/>
              <a:t> 2071.1 km | </a:t>
            </a:r>
            <a:r>
              <a:rPr dirty="0" err="1"/>
              <a:t>post_shock</a:t>
            </a:r>
            <a:r>
              <a:rPr dirty="0"/>
              <a:t> margin -310115 INR</a:t>
            </a:r>
          </a:p>
          <a:p>
            <a:r>
              <a:rPr dirty="0"/>
              <a:t>DEL-COK | </a:t>
            </a:r>
            <a:r>
              <a:rPr dirty="0" err="1"/>
              <a:t>dist</a:t>
            </a:r>
            <a:r>
              <a:rPr dirty="0"/>
              <a:t> 2048.9 km | </a:t>
            </a:r>
            <a:r>
              <a:rPr dirty="0" err="1"/>
              <a:t>post_shock</a:t>
            </a:r>
            <a:r>
              <a:rPr dirty="0"/>
              <a:t> margin -307430 INR</a:t>
            </a:r>
          </a:p>
          <a:p>
            <a:r>
              <a:rPr dirty="0"/>
              <a:t>COK-DEL | </a:t>
            </a:r>
            <a:r>
              <a:rPr dirty="0" err="1"/>
              <a:t>dist</a:t>
            </a:r>
            <a:r>
              <a:rPr dirty="0"/>
              <a:t> 2048.9 km | </a:t>
            </a:r>
            <a:r>
              <a:rPr dirty="0" err="1"/>
              <a:t>post_shock</a:t>
            </a:r>
            <a:r>
              <a:rPr dirty="0"/>
              <a:t> margin -307430 INR</a:t>
            </a:r>
          </a:p>
          <a:p>
            <a:r>
              <a:rPr dirty="0"/>
              <a:t>GAU-BLR | </a:t>
            </a:r>
            <a:r>
              <a:rPr dirty="0" err="1"/>
              <a:t>dist</a:t>
            </a:r>
            <a:r>
              <a:rPr dirty="0"/>
              <a:t> 2039.4 km | </a:t>
            </a:r>
            <a:r>
              <a:rPr dirty="0" err="1"/>
              <a:t>post_shock</a:t>
            </a:r>
            <a:r>
              <a:rPr dirty="0"/>
              <a:t> margin -306281 INR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— UDAN impact &amp;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Option B (UDAN) can stabilize a subset of fragile regional routes short-term.</a:t>
            </a:r>
          </a:p>
          <a:p>
            <a:r>
              <a:t>It saves 0 routes from being loss-making under a +25% fuel shock.</a:t>
            </a:r>
          </a:p>
          <a:p>
            <a:r>
              <a:t>Recommendation: Use UDAN selectively as downside insurance; prioritize network optimization on core routes.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— KPIs &amp; Exit 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KPIs: Route-level EBITDA margin, CASK, Cash burn rate.</a:t>
            </a:r>
          </a:p>
          <a:p>
            <a:r>
              <a:t>Triggers: Exit route if margin &lt; threshold for 2 consecutive quarters.</a:t>
            </a:r>
          </a:p>
          <a:p>
            <a:r>
              <a:t>Begin structural redesign planning (fleet mix) as Phase 2; do not lock entire fleet into UDAN.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231</Words>
  <Application>Microsoft Office PowerPoint</Application>
  <PresentationFormat>On-screen Show (4:3)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Regional Airline — Fuel Shock &amp; UDAN Analysis</vt:lpstr>
      <vt:lpstr>Slide 1 — ATF time series (India)</vt:lpstr>
      <vt:lpstr>Slide 2 — Margin impact: base vs post-shock vs UDAN</vt:lpstr>
      <vt:lpstr>Slide 3 — Vulnerable routes (post-shock)</vt:lpstr>
      <vt:lpstr>Slide 4 — UDAN impact &amp; Recommendation</vt:lpstr>
      <vt:lpstr>Slide 5 — KPIs &amp; Exit Triggers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Anklesh Rawat</cp:lastModifiedBy>
  <cp:revision>2</cp:revision>
  <dcterms:created xsi:type="dcterms:W3CDTF">2013-01-27T09:14:16Z</dcterms:created>
  <dcterms:modified xsi:type="dcterms:W3CDTF">2026-01-03T21:35:48Z</dcterms:modified>
  <cp:category/>
</cp:coreProperties>
</file>